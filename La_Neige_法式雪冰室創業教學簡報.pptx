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7317eff26a4ac2" /><Relationship Type="http://schemas.openxmlformats.org/officeDocument/2006/relationships/extended-properties" Target="/docProps/app.xml" Id="R6f0bf7ed962e4724" /><Relationship Type="http://schemas.openxmlformats.org/officeDocument/2006/relationships/officeDocument" Target="/ppt/presentation.xml" Id="R22d693c05fdf43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88ebde6a454683"/>
  </p:sldMasterIdLst>
  <p:notesMasterIdLst>
    <p:notesMasterId xmlns:r="http://schemas.openxmlformats.org/officeDocument/2006/relationships" r:id="Rc680c09807e64b3a"/>
  </p:notesMasterIdLst>
  <p:sldIdLst>
    <p:sldId xmlns:r="http://schemas.openxmlformats.org/officeDocument/2006/relationships" id="256" r:id="R83e3a6eb992b47a7"/>
    <p:sldId xmlns:r="http://schemas.openxmlformats.org/officeDocument/2006/relationships" id="257" r:id="Rf274c741faab4515"/>
    <p:sldId xmlns:r="http://schemas.openxmlformats.org/officeDocument/2006/relationships" id="258" r:id="R93d81f4734464452"/>
    <p:sldId xmlns:r="http://schemas.openxmlformats.org/officeDocument/2006/relationships" id="259" r:id="R2a1ee7d7f3da4c73"/>
    <p:sldId xmlns:r="http://schemas.openxmlformats.org/officeDocument/2006/relationships" id="260" r:id="R419b20f7e282490c"/>
    <p:sldId xmlns:r="http://schemas.openxmlformats.org/officeDocument/2006/relationships" id="261" r:id="R4a2ceac0787a4c1d"/>
    <p:sldId xmlns:r="http://schemas.openxmlformats.org/officeDocument/2006/relationships" id="262" r:id="R84be29bb8ea142ee"/>
    <p:sldId xmlns:r="http://schemas.openxmlformats.org/officeDocument/2006/relationships" id="263" r:id="R0296ccd9401d411e"/>
    <p:sldId xmlns:r="http://schemas.openxmlformats.org/officeDocument/2006/relationships" id="264" r:id="R84757d55fd59425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02aea5cb6f4260" /><Relationship Type="http://schemas.openxmlformats.org/officeDocument/2006/relationships/slideMaster" Target="/ppt/slideMasters/slideMaster1.xml" Id="Rd188ebde6a454683" /><Relationship Type="http://schemas.openxmlformats.org/officeDocument/2006/relationships/notesMaster" Target="/ppt/notesMasters/notesMaster1.xml" Id="Rc680c09807e64b3a" /><Relationship Type="http://schemas.openxmlformats.org/officeDocument/2006/relationships/presProps" Target="/ppt/presProps.xml" Id="Rcff04335f1ad4f77" /><Relationship Type="http://schemas.openxmlformats.org/officeDocument/2006/relationships/viewProps" Target="/ppt/viewProps.xml" Id="R01c872cccef54384" /><Relationship Type="http://schemas.openxmlformats.org/officeDocument/2006/relationships/tableStyles" Target="/ppt/tableStyles.xml" Id="R023c1069bf4d410c" /><Relationship Type="http://schemas.openxmlformats.org/officeDocument/2006/relationships/slide" Target="/ppt/slides/slide1.xml" Id="R83e3a6eb992b47a7" /><Relationship Type="http://schemas.openxmlformats.org/officeDocument/2006/relationships/slide" Target="/ppt/slides/slide2.xml" Id="Rf274c741faab4515" /><Relationship Type="http://schemas.openxmlformats.org/officeDocument/2006/relationships/slide" Target="/ppt/slides/slide3.xml" Id="R93d81f4734464452" /><Relationship Type="http://schemas.openxmlformats.org/officeDocument/2006/relationships/slide" Target="/ppt/slides/slide4.xml" Id="R2a1ee7d7f3da4c73" /><Relationship Type="http://schemas.openxmlformats.org/officeDocument/2006/relationships/slide" Target="/ppt/slides/slide5.xml" Id="R419b20f7e282490c" /><Relationship Type="http://schemas.openxmlformats.org/officeDocument/2006/relationships/slide" Target="/ppt/slides/slide6.xml" Id="R4a2ceac0787a4c1d" /><Relationship Type="http://schemas.openxmlformats.org/officeDocument/2006/relationships/slide" Target="/ppt/slides/slide7.xml" Id="R84be29bb8ea142ee" /><Relationship Type="http://schemas.openxmlformats.org/officeDocument/2006/relationships/slide" Target="/ppt/slides/slide8.xml" Id="R0296ccd9401d411e" /><Relationship Type="http://schemas.openxmlformats.org/officeDocument/2006/relationships/slide" Target="/ppt/slides/slide9.xml" Id="R84757d55fd5942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27e4f1d21a48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c48780e8fd4fb7" /><Relationship Type="http://schemas.openxmlformats.org/officeDocument/2006/relationships/notesMaster" Target="/ppt/notesMasters/notesMaster1.xml" Id="R9f57851a27fa47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9860657cb14ac7" /><Relationship Type="http://schemas.openxmlformats.org/officeDocument/2006/relationships/notesMaster" Target="/ppt/notesMasters/notesMaster1.xml" Id="Re071203b92da4a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92f6848c8c4798" /><Relationship Type="http://schemas.openxmlformats.org/officeDocument/2006/relationships/notesMaster" Target="/ppt/notesMasters/notesMaster1.xml" Id="Rb2189ed69b514e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d28283c07e44e1" /><Relationship Type="http://schemas.openxmlformats.org/officeDocument/2006/relationships/notesMaster" Target="/ppt/notesMasters/notesMaster1.xml" Id="R21e41b20baa740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75c9e550e84ee6" /><Relationship Type="http://schemas.openxmlformats.org/officeDocument/2006/relationships/notesMaster" Target="/ppt/notesMasters/notesMaster1.xml" Id="Rb640379046954e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ad4184657e4601" /><Relationship Type="http://schemas.openxmlformats.org/officeDocument/2006/relationships/notesMaster" Target="/ppt/notesMasters/notesMaster1.xml" Id="Rcd3352c0735e4b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0c873505d24b66" /><Relationship Type="http://schemas.openxmlformats.org/officeDocument/2006/relationships/notesMaster" Target="/ppt/notesMasters/notesMaster1.xml" Id="R78be11dfaa794e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faef26ee2c4489" /><Relationship Type="http://schemas.openxmlformats.org/officeDocument/2006/relationships/notesMaster" Target="/ppt/notesMasters/notesMaster1.xml" Id="R4c044fa2fe3140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59437b4ae5434c" /><Relationship Type="http://schemas.openxmlformats.org/officeDocument/2006/relationships/notesMaster" Target="/ppt/notesMasters/notesMaster1.xml" Id="Reffb4c649cfe48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0325f435fb41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a2f1bdb07945d7" /><Relationship Type="http://schemas.openxmlformats.org/officeDocument/2006/relationships/slideLayout" Target="/ppt/slideLayouts/slideLayout1.xml" Id="R5a1d1f24aa894f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1d1f24aa894f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8a46e2aea49a1" /><Relationship Type="http://schemas.openxmlformats.org/officeDocument/2006/relationships/notesSlide" Target="/ppt/notesSlides/notesSlide1.xml" Id="R24c1c08cfa1a45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078c5ed924397" /><Relationship Type="http://schemas.openxmlformats.org/officeDocument/2006/relationships/notesSlide" Target="/ppt/notesSlides/notesSlide2.xml" Id="R09aee9af284543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c7fac20cc43e0" /><Relationship Type="http://schemas.openxmlformats.org/officeDocument/2006/relationships/notesSlide" Target="/ppt/notesSlides/notesSlide3.xml" Id="Rb1780d51a5c44f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0413947f94f58" /><Relationship Type="http://schemas.openxmlformats.org/officeDocument/2006/relationships/notesSlide" Target="/ppt/notesSlides/notesSlide4.xml" Id="R7a10802e088e4e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56d09da774875" /><Relationship Type="http://schemas.openxmlformats.org/officeDocument/2006/relationships/notesSlide" Target="/ppt/notesSlides/notesSlide5.xml" Id="R891d686866d749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1c4533cfa4b98" /><Relationship Type="http://schemas.openxmlformats.org/officeDocument/2006/relationships/notesSlide" Target="/ppt/notesSlides/notesSlide6.xml" Id="R53d5970b430743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72d05ab354553" /><Relationship Type="http://schemas.openxmlformats.org/officeDocument/2006/relationships/notesSlide" Target="/ppt/notesSlides/notesSlide7.xml" Id="Rbf098d3728a84f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afbd79e634d20" /><Relationship Type="http://schemas.openxmlformats.org/officeDocument/2006/relationships/notesSlide" Target="/ppt/notesSlides/notesSlide8.xml" Id="R65bd40f82e8148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77963d0f241b9" /><Relationship Type="http://schemas.openxmlformats.org/officeDocument/2006/relationships/notesSlide" Target="/ppt/notesSlides/notesSlide9.xml" Id="R7363c111cc424ae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5805B8-7413-43A9-99D0-4B0F1578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4E147-BD87-421F-8945-7428DBFB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9150"/>
            <a:ext cx="609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8B1E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350" b="1">
                <a:solidFill>
                  <a:srgbClr val="8B1E3F"/>
                </a:solidFill>
                <a:latin typeface="Arial Unicode MS"/>
                <a:ea typeface="Arial Unicode MS"/>
                <a:cs typeface="Arial Unicode MS"/>
              </a:rPr>
              <a:t>La Neige</a:t>
            </a:r>
          </a:p>
          <a:p xmlns:a="http://schemas.openxmlformats.org/drawingml/2006/main">
            <a:pPr algn="l">
              <a:defRPr sz="4350" b="1">
                <a:solidFill>
                  <a:srgbClr val="8B1E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350" b="1">
                <a:solidFill>
                  <a:srgbClr val="8B1E3F"/>
                </a:solidFill>
                <a:latin typeface="Arial Unicode MS"/>
                <a:ea typeface="Arial Unicode MS"/>
                <a:cs typeface="Arial Unicode MS"/>
              </a:rPr>
              <a:t>法式雪冰室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1569E-F850-4408-9B63-594B264C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704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5C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F5C4B"/>
                </a:solidFill>
                <a:latin typeface="Arial Unicode MS"/>
                <a:ea typeface="Arial Unicode MS"/>
                <a:cs typeface="Arial Unicode MS"/>
              </a:rPr>
              <a:t>台灣冰品 x 法式生活感 x 父子退休創業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1ABFD-AA0C-4350-82AD-8495AE0A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rPr>
              <a:t>教學案例｜創業計劃書、品牌網站、會員活動與 GitHub Pages 範例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398F3-5AC8-47DC-8213-C2F06F49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00125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57150">
            <a:solidFill>
              <a:srgbClr val="C9A4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7B3E3-AF10-4D53-BA00-7150B244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476375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rPr>
              <a:t>把台灣的冰</a:t>
            </a:r>
          </a:p>
          <a:p xmlns:a="http://schemas.openxmlformats.org/drawingml/2006/main">
            <a:pPr algn="ctr">
              <a:defRPr sz="2400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rPr>
              <a:t>做成一場</a:t>
            </a:r>
          </a:p>
          <a:p xmlns:a="http://schemas.openxmlformats.org/drawingml/2006/main">
            <a:pPr algn="ctr">
              <a:defRPr sz="2400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rPr>
              <a:t>法式午後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AD279-926B-4B01-9522-A0B0FD76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2607D3-AA7E-454F-89DD-6B54383B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8F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9D8F81"/>
                </a:solidFill>
                <a:latin typeface="Arial Unicode MS"/>
                <a:ea typeface="Arial Unicode MS"/>
                <a:cs typeface="Arial Unicode MS"/>
              </a:rPr>
              <a:t>封面｜La Neige 法式雪冰室創業教學案例</a:t>
            </a:r>
          </a:p>
        </p:txBody>
      </p:sp>
    </p:spTree>
    <p:extLst>
      <p:ext uri="{BB962C8B-B14F-4D97-AF65-F5344CB8AC3E}">
        <p14:creationId xmlns:p14="http://schemas.microsoft.com/office/powerpoint/2010/main" val="21112875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BC49A7-3674-48A9-B773-7DD010CF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DD04D-1ECF-412C-8610-71621039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00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8B1E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8B1E3F"/>
                </a:solidFill>
                <a:latin typeface="Arial Unicode MS"/>
                <a:ea typeface="Arial Unicode MS"/>
                <a:cs typeface="Arial Unicode MS"/>
              </a:rPr>
              <a:t>品牌不是從 LOGO 開始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5F114-629C-4768-B64D-1FDC680B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rPr>
              <a:t>它從人、記憶和生活方式開始。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FB94F-AD2A-4F8F-8A94-6DFF2FB8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43208-3613-43A9-9CD4-D44E515E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1143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7015F-F6D7-4B9B-8292-AFFCFD22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2609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rPr>
              <a:t>琰綱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8D600-19BA-4626-ACD7-4FC2AB3B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2609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rPr>
              <a:t>英國建築與藝術背景，把光影、比例、法式街角感帶回台灣。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BB806-5275-48FB-8DAA-370A5192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8600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74419B-8D18-4D12-B35F-F9A79CAF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86000"/>
            <a:ext cx="1143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A325E-E21E-47A4-A1DB-6A66843F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495550"/>
            <a:ext cx="2609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rPr>
              <a:t>父親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8D25B3-123F-4A51-8CB0-2202D2F0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933700"/>
            <a:ext cx="2609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rPr>
              <a:t>退休後重新開始，喜歡登山與重機，成為品牌的生活溫度。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A9D824-330E-4490-AADE-8C77D4D5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8600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8BFB0F-5FCD-4C43-9024-A952AD83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86000"/>
            <a:ext cx="1143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4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EA31E8-CB47-4A2A-9380-8D0AAB8A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95550"/>
            <a:ext cx="2609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rPr>
              <a:t>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D964C5-C611-4D0C-8C32-61C7BC63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33700"/>
            <a:ext cx="2609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rPr>
              <a:t>一間台灣街景中令人驚艷的法式冰店，讓客人願意拍照、停留、再訪。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57959E-5972-4C5F-BFBF-572F5E88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FDEBFF-2591-4900-9113-6E93B50F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8F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9D8F81"/>
                </a:solidFill>
                <a:latin typeface="Arial Unicode MS"/>
                <a:ea typeface="Arial Unicode MS"/>
                <a:cs typeface="Arial Unicode MS"/>
              </a:rPr>
              <a:t>品牌故事｜父子創業與生活美學</a:t>
            </a:r>
          </a:p>
        </p:txBody>
      </p:sp>
    </p:spTree>
    <p:extLst>
      <p:ext uri="{BB962C8B-B14F-4D97-AF65-F5344CB8AC3E}">
        <p14:creationId xmlns:p14="http://schemas.microsoft.com/office/powerpoint/2010/main" val="210447748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E3C819-F86B-4724-9B9C-A9AA38EC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705DB-2E3F-453F-82A1-EB0C518F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00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8B1E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8B1E3F"/>
                </a:solidFill>
                <a:latin typeface="Arial Unicode MS"/>
                <a:ea typeface="Arial Unicode MS"/>
                <a:cs typeface="Arial Unicode MS"/>
              </a:rPr>
              <a:t>市場定位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3DBD9-5574-4A93-AB7E-4A482062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rPr>
              <a:t>客單 90-150 元，用親民價格做出品味感。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B2611-3C37-4F23-9F63-0AFC9C1F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56B16-3E7C-470B-95DC-39A180F2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14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90D6F-CDB8-4BA0-A08C-6AB92EB1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00300"/>
            <a:ext cx="422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rPr>
              <a:t>目標客群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B23C1-AA90-40E1-A34B-39D56FB9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38450"/>
            <a:ext cx="4229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rPr>
              <a:t>年輕拍照族、情侶、朋友聚會、親子、退休族、山友與重機騎士。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7A4C72-9EE3-4A59-89EC-18D80450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1CBD24-E1B4-426B-BCE4-5D79F59C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114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BD1DE-79CC-4286-B12B-B805A774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422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rPr>
              <a:t>差異化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B28F34-26C9-4026-807B-39E3C6A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38450"/>
            <a:ext cx="4229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rPr>
              <a:t>法式視覺、台灣味覺、透明製作、社群互動、父子真實故事。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15798-9A47-468C-8A7F-F06B7449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9625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rPr>
              <a:t>核心策略：讓每一碗冰都能被拍、被說、被分享。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7EF97-0CF4-4B9E-B781-08754B84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D4EC40-28D0-4BDE-8EDF-9142C95B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8F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9D8F81"/>
                </a:solidFill>
                <a:latin typeface="Arial Unicode MS"/>
                <a:ea typeface="Arial Unicode MS"/>
                <a:cs typeface="Arial Unicode MS"/>
              </a:rPr>
              <a:t>市場定位｜品味生活與社群傳播</a:t>
            </a:r>
          </a:p>
        </p:txBody>
      </p:sp>
    </p:spTree>
    <p:extLst>
      <p:ext uri="{BB962C8B-B14F-4D97-AF65-F5344CB8AC3E}">
        <p14:creationId xmlns:p14="http://schemas.microsoft.com/office/powerpoint/2010/main" val="609292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5BD701-A8A3-469F-8945-A9040CA1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4F013-E884-49DE-8AD8-BB9E6501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00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8B1E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8B1E3F"/>
                </a:solidFill>
                <a:latin typeface="Arial Unicode MS"/>
                <a:ea typeface="Arial Unicode MS"/>
                <a:cs typeface="Arial Unicode MS"/>
              </a:rPr>
              <a:t>商品架構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6190B-0E24-42BC-85C9-8467E343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rPr>
              <a:t>夏天賣冰，冬天靠熱飲湯品與會員回訪。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426FF-2E02-4ADD-B34C-8D3E178A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D803E-B415-4BE6-8C1A-AF21BEE9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114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1C0F5-605B-4188-B73F-5A3688D0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57425"/>
            <a:ext cx="422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rPr>
              <a:t>雪花冰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424D20-5193-414F-BC5B-F410505B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95575"/>
            <a:ext cx="4229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rPr>
              <a:t>焦糖伯爵、草莓玫瑰、芒果香草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4F623-87CB-494D-86A9-C4AD41E1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CF1096-FD1D-42CF-9E6C-EC18DEF3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114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4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C207EF-2820-4985-A36A-91B38CF0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57425"/>
            <a:ext cx="422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rPr>
              <a:t>刨冰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33C726-E5E1-423C-A3FE-9240F14A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95575"/>
            <a:ext cx="4229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rPr>
              <a:t>檸檬塔刨冰、紅豆牛奶、芋泥奶霜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D088B-CFA2-400D-9200-713149A7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71875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A920B-78D9-4B49-94B4-4E5DFAD7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71875"/>
            <a:ext cx="114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6A054D-B9E0-4286-850D-129187D4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81425"/>
            <a:ext cx="422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rPr>
              <a:t>冬季飲品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933678-812F-484E-A13C-D8C37618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19575"/>
            <a:ext cx="4229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rPr>
              <a:t>黑糖薑奶、桂圓紅棗、燒仙草奶茶、花生湯圓可可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C87C11-3E82-4CE8-BF58-E19E9EBB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71875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34F975-E647-45FC-8FD0-6C3093FF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71875"/>
            <a:ext cx="114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4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5F3D4E-0994-43E4-B871-0BCDBBC9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81425"/>
            <a:ext cx="422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rPr>
              <a:t>湯品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651404-CB83-4CFC-A50C-8F0F91CF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19575"/>
            <a:ext cx="4229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rPr>
              <a:t>南瓜濃湯、番茄蔬菜湯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FC83AF-E66D-48C7-B8AF-09E6E0C6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FAE947-763C-4A7A-B554-501785DE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8F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9D8F81"/>
                </a:solidFill>
                <a:latin typeface="Arial Unicode MS"/>
                <a:ea typeface="Arial Unicode MS"/>
                <a:cs typeface="Arial Unicode MS"/>
              </a:rPr>
              <a:t>產品規劃｜菜單不多但記憶點清楚</a:t>
            </a:r>
          </a:p>
        </p:txBody>
      </p:sp>
    </p:spTree>
    <p:extLst>
      <p:ext uri="{BB962C8B-B14F-4D97-AF65-F5344CB8AC3E}">
        <p14:creationId xmlns:p14="http://schemas.microsoft.com/office/powerpoint/2010/main" val="3436505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2CCEF5-6244-474F-8FB6-3A38ECA3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7A7BE-DDB1-4D6E-B2E2-6DD77803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00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8B1E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8B1E3F"/>
                </a:solidFill>
                <a:latin typeface="Arial Unicode MS"/>
                <a:ea typeface="Arial Unicode MS"/>
                <a:cs typeface="Arial Unicode MS"/>
              </a:rPr>
              <a:t>網站範例就是教學工具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4BF208-7738-449F-9705-25788BC5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rPr>
              <a:t>把品牌、商品、社群、會員、互動一次串起來。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2162F-6BF3-41AA-AE21-7F7C931A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12B3C-FBBE-4D1D-A313-9212218F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241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rPr>
              <a:t>品牌故事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F2270-B17D-4BE9-AA5D-EEBDE925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748F4-904B-44A2-8057-C5798041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241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rPr>
              <a:t>菜單主題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11622-E28E-4F01-8472-AE89CD0B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48DC01-7B8F-4110-AC8C-B92DB476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rPr>
              <a:t>拍照牆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A3A7A-992D-4778-A5B8-41A8E46B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405011-D23D-4C5F-9168-8A885F22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623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rPr>
              <a:t>投票留言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C492EE-F8E2-4BCA-9F74-12D008F9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DC2810-595B-4FF8-B70F-146D39C9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623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rPr>
              <a:t>會員訂閱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CF4529-3016-496E-834C-D1BB21E6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5C6BF6-7186-4C57-ACB9-F6042ADC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623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rPr>
              <a:t>阿山哥俱樂部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150171-5644-4D6E-B442-73072C9F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990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5C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F5C4B"/>
                </a:solidFill>
                <a:latin typeface="Arial Unicode MS"/>
                <a:ea typeface="Arial Unicode MS"/>
                <a:cs typeface="Arial Unicode MS"/>
              </a:rPr>
              <a:t>本機範例：http://localhost:4173｜GitHub Pages：main / docs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9A0208-9036-40DC-872F-EBE50C31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73CE97-F0D7-4FE3-838A-841AFC97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8F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9D8F81"/>
                </a:solidFill>
                <a:latin typeface="Arial Unicode MS"/>
                <a:ea typeface="Arial Unicode MS"/>
                <a:cs typeface="Arial Unicode MS"/>
              </a:rPr>
              <a:t>網站原型｜可連結教學範例</a:t>
            </a:r>
          </a:p>
        </p:txBody>
      </p:sp>
    </p:spTree>
    <p:extLst>
      <p:ext uri="{BB962C8B-B14F-4D97-AF65-F5344CB8AC3E}">
        <p14:creationId xmlns:p14="http://schemas.microsoft.com/office/powerpoint/2010/main" val="44851407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D3645B-FE2E-4633-9BAD-7C11927A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62BBE-DB2A-4E55-892C-4E05F53A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00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8B1E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8B1E3F"/>
                </a:solidFill>
                <a:latin typeface="Arial Unicode MS"/>
                <a:ea typeface="Arial Unicode MS"/>
                <a:cs typeface="Arial Unicode MS"/>
              </a:rPr>
              <a:t>全年主題行銷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98D4C-4897-4900-B175-117C1EF2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rPr>
              <a:t>用插畫與每月限定，讓社群不只是一張公告。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32757-D7AF-4A7C-ABEE-70134226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2190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85277-EC1E-4718-872F-6763FD7E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B1E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8B1E3F"/>
                </a:solidFill>
                <a:latin typeface="Arial Unicode MS"/>
                <a:ea typeface="Arial Unicode MS"/>
                <a:cs typeface="Arial Unicode MS"/>
              </a:rPr>
              <a:t>2月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EB300-C4D0-4E50-92EB-BEB261B8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95625"/>
            <a:ext cx="1847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rPr>
              <a:t>玫瑰情人節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73A7F-C48D-4066-B461-F613CF05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0"/>
            <a:ext cx="1847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rPr>
              <a:t>草莓玫瑰雙人冰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9F446E-0D96-4E8E-AA9E-0FA2B809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38375"/>
            <a:ext cx="2190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392ED-80EB-490B-BD9C-69BACD48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765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B1E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8B1E3F"/>
                </a:solidFill>
                <a:latin typeface="Arial Unicode MS"/>
                <a:ea typeface="Arial Unicode MS"/>
                <a:cs typeface="Arial Unicode MS"/>
              </a:rPr>
              <a:t>4月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DED46F-D3E1-4E01-B7C1-350FDD47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95625"/>
            <a:ext cx="1847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rPr>
              <a:t>伯爵茶香季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1C9A77-6137-4FA5-8006-C2CF0C16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19500"/>
            <a:ext cx="1847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rPr>
              <a:t>焦糖伯爵雪花冰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A416E8-8324-413E-9035-9D054064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2190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44FED-2A65-463F-B178-CBD6BC48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B1E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8B1E3F"/>
                </a:solidFill>
                <a:latin typeface="Arial Unicode MS"/>
                <a:ea typeface="Arial Unicode MS"/>
                <a:cs typeface="Arial Unicode MS"/>
              </a:rPr>
              <a:t>7月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3CC2F7-8A7B-440C-AD6D-F8AE4399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95625"/>
            <a:ext cx="1847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rPr>
              <a:t>芒果左岸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6F8E2C-9156-4E3E-8076-6471F9D1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19500"/>
            <a:ext cx="1847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rPr>
              <a:t>芒果香草雪花冰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4E3BDE-3CAA-4D39-AC65-040C2DCF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38375"/>
            <a:ext cx="2190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730C2D-7AA2-4059-BF4D-A2E73696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765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B1E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8B1E3F"/>
                </a:solidFill>
                <a:latin typeface="Arial Unicode MS"/>
                <a:ea typeface="Arial Unicode MS"/>
                <a:cs typeface="Arial Unicode MS"/>
              </a:rPr>
              <a:t>12月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BBE9D7-C0D8-474C-8EC2-26C1891E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95625"/>
            <a:ext cx="1847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rPr>
              <a:t>聖誕雪花季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39EEC4-2142-42CA-B37B-D0F8FC2B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19500"/>
            <a:ext cx="1847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rPr>
              <a:t>聖誕草莓雪花冰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456C3D-2004-4380-9AFA-A9771B69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E6AB3B-9555-47B1-A78E-4DA24EC4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8F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9D8F81"/>
                </a:solidFill>
                <a:latin typeface="Arial Unicode MS"/>
                <a:ea typeface="Arial Unicode MS"/>
                <a:cs typeface="Arial Unicode MS"/>
              </a:rPr>
              <a:t>社群行銷｜每月主題與短影音任務</a:t>
            </a:r>
          </a:p>
        </p:txBody>
      </p:sp>
    </p:spTree>
    <p:extLst>
      <p:ext uri="{BB962C8B-B14F-4D97-AF65-F5344CB8AC3E}">
        <p14:creationId xmlns:p14="http://schemas.microsoft.com/office/powerpoint/2010/main" val="5629847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688B72-9029-4116-9EE9-3008F01A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CFD2B-4950-4650-9392-E865810C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00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8B1E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8B1E3F"/>
                </a:solidFill>
                <a:latin typeface="Arial Unicode MS"/>
                <a:ea typeface="Arial Unicode MS"/>
                <a:cs typeface="Arial Unicode MS"/>
              </a:rPr>
              <a:t>阿山哥俱樂部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72061-E6E9-4FAA-8DE1-5DC28BDB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rPr>
              <a:t>把父親的登山與重機生活，變成會員回訪機制。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4C937-7372-4B9E-8C68-D8F72814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57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D57EA-DBDB-4F64-BDF5-FA494170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1143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A08AC-F0F8-46C8-9537-46146275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95550"/>
            <a:ext cx="4038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rPr>
              <a:t>登山任務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2E18A-9483-4052-84B3-93D5E1A1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33700"/>
            <a:ext cx="4038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rPr>
              <a:t>PO 爬山照，填山名或步道，產生 ASHAN 月份優惠碼。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9180CA-3B30-4E32-9C1C-A82052D9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57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BE29D-B138-47C9-8C2D-1F703E59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1143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304FCD-9747-4689-B184-D46FD83C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95550"/>
            <a:ext cx="4038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rPr>
              <a:t>重機任務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629D29-3EA7-4033-96AD-287F85BB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33700"/>
            <a:ext cx="4038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rPr>
              <a:t>PO 騎士重機照，介紹品牌車款與騎乘心得，產生 RIDER 月份優惠碼。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81713F-DA78-43C2-B324-0D2A3D71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rPr>
              <a:t>優惠：招牌冰折 20 元，冬季熱飲 9 折。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5FF7F1-7343-4193-A7F1-7ED825A1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FC39CA-1F4B-4A4D-B56B-DDDF5773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8F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9D8F81"/>
                </a:solidFill>
                <a:latin typeface="Arial Unicode MS"/>
                <a:ea typeface="Arial Unicode MS"/>
                <a:cs typeface="Arial Unicode MS"/>
              </a:rPr>
              <a:t>會員互動｜生活方式帶動再訪</a:t>
            </a:r>
          </a:p>
        </p:txBody>
      </p:sp>
    </p:spTree>
    <p:extLst>
      <p:ext uri="{BB962C8B-B14F-4D97-AF65-F5344CB8AC3E}">
        <p14:creationId xmlns:p14="http://schemas.microsoft.com/office/powerpoint/2010/main" val="3200837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63AD1B-A366-4DFA-8E6A-FD8F411D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BF5250-7736-4AAD-AD6D-7C038966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00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8B1E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8B1E3F"/>
                </a:solidFill>
                <a:latin typeface="Arial Unicode MS"/>
                <a:ea typeface="Arial Unicode MS"/>
                <a:cs typeface="Arial Unicode MS"/>
              </a:rPr>
              <a:t>財務試算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2CE14-6A5B-46C0-AD7E-889A1B65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rPr>
              <a:t>先看日客數，再決定擴張。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44CE5-9EEA-4033-8CAA-471C14EB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90750"/>
            <a:ext cx="285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1E48A-FF6D-409F-A3F1-061A7AEE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90750"/>
            <a:ext cx="1143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8D9BB-7B40-4F51-BBE4-F1EFCA97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0030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rPr>
              <a:t>保守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C5781-BC64-4FAE-BBB8-681E9C3F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38450"/>
            <a:ext cx="23241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rPr>
              <a:t>40 人/日</a:t>
            </a:r>
          </a:p>
          <a:p xmlns:a="http://schemas.openxmlformats.org/drawingml/2006/main">
            <a:pPr algn="l">
              <a:def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rPr>
              <a:t>客單 130 元</a:t>
            </a:r>
          </a:p>
          <a:p xmlns:a="http://schemas.openxmlformats.org/drawingml/2006/main">
            <a:pPr algn="l">
              <a:def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rPr>
              <a:t>約 15.6 萬/月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0FEE6-C9C5-4C4A-9960-FBE87F4A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90750"/>
            <a:ext cx="285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95636-75CE-4F91-BEC7-6F4A2236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90750"/>
            <a:ext cx="1143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4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D5AF3-FBF3-428C-B3A0-31984DF0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40030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rPr>
              <a:t>穩定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FE4BD9-2030-48B1-BE7A-352EB326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838450"/>
            <a:ext cx="23241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rPr>
              <a:t>70 人/日</a:t>
            </a:r>
          </a:p>
          <a:p xmlns:a="http://schemas.openxmlformats.org/drawingml/2006/main">
            <a:pPr algn="l">
              <a:def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rPr>
              <a:t>客單 130 元</a:t>
            </a:r>
          </a:p>
          <a:p xmlns:a="http://schemas.openxmlformats.org/drawingml/2006/main">
            <a:pPr algn="l">
              <a:def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rPr>
              <a:t>約 27.3 萬/月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5914CD-D353-48A8-B3A3-FAAF2658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285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DE0B24-3C9E-47EA-9400-2B2AB12F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1143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8F5FA-DB4D-4439-A3DB-22CF0F89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0030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rPr>
              <a:t>旺季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E121E1-1F96-4764-A610-78E2F965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38450"/>
            <a:ext cx="23241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rPr>
              <a:t>100 人/日</a:t>
            </a:r>
          </a:p>
          <a:p xmlns:a="http://schemas.openxmlformats.org/drawingml/2006/main">
            <a:pPr algn="l">
              <a:def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rPr>
              <a:t>客單 130 元</a:t>
            </a:r>
          </a:p>
          <a:p xmlns:a="http://schemas.openxmlformats.org/drawingml/2006/main">
            <a:pPr algn="l">
              <a:def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A5650"/>
                </a:solidFill>
                <a:latin typeface="Arial Unicode MS"/>
                <a:ea typeface="Arial Unicode MS"/>
                <a:cs typeface="Arial Unicode MS"/>
              </a:rPr>
              <a:t>約 39 萬/月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06D6BD-A1DD-4448-A344-FF3A2389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1009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rPr>
              <a:t>食材成本 30-38%｜租金控制營收 10% 內｜冬季用會員與熱飲補淡季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B969A1-E47F-4DDF-81B5-33D3F2C6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5F8966-D1E2-4E0C-8EBC-D75E529B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8F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9D8F81"/>
                </a:solidFill>
                <a:latin typeface="Arial Unicode MS"/>
                <a:ea typeface="Arial Unicode MS"/>
                <a:cs typeface="Arial Unicode MS"/>
              </a:rPr>
              <a:t>財務規劃｜小店先穩定再複製</a:t>
            </a:r>
          </a:p>
        </p:txBody>
      </p:sp>
    </p:spTree>
    <p:extLst>
      <p:ext uri="{BB962C8B-B14F-4D97-AF65-F5344CB8AC3E}">
        <p14:creationId xmlns:p14="http://schemas.microsoft.com/office/powerpoint/2010/main" val="94496949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F19EDE-3404-487A-86A6-D5B12209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D78A6-5357-4BD7-88E8-0FFFD577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57250"/>
            <a:ext cx="4286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8B1E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750" b="1">
                <a:solidFill>
                  <a:srgbClr val="8B1E3F"/>
                </a:solidFill>
                <a:latin typeface="Arial Unicode MS"/>
                <a:ea typeface="Arial Unicode MS"/>
                <a:cs typeface="Arial Unicode MS"/>
              </a:rPr>
              <a:t>教學重點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4052D-CFD4-4A2D-BB96-1DFD60D3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9334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B2420"/>
                </a:solidFill>
                <a:latin typeface="Arial Unicode MS"/>
                <a:ea typeface="Arial Unicode MS"/>
                <a:cs typeface="Arial Unicode MS"/>
              </a:rPr>
              <a:t>學生學到的不是一間冰店，而是把個人故事、商品、空間、社群、會員與網路展示整合成創業方案的方法。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B916F-D268-431C-991C-647C0A3C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5C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F5C4B"/>
                </a:solidFill>
                <a:latin typeface="Arial Unicode MS"/>
                <a:ea typeface="Arial Unicode MS"/>
                <a:cs typeface="Arial Unicode MS"/>
              </a:rPr>
              <a:t>GitHub Pages 可作為長期教學連結，課堂、作業與創業討論都能隨時取用。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4F13E-1297-478D-BD17-038F26E0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36A334-E685-48A8-A7E4-ED195158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8F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9D8F81"/>
                </a:solidFill>
                <a:latin typeface="Arial Unicode MS"/>
                <a:ea typeface="Arial Unicode MS"/>
                <a:cs typeface="Arial Unicode MS"/>
              </a:rPr>
              <a:t>結語｜從案例到可教、可改、可展示</a:t>
            </a:r>
          </a:p>
        </p:txBody>
      </p:sp>
    </p:spTree>
    <p:extLst>
      <p:ext uri="{BB962C8B-B14F-4D97-AF65-F5344CB8AC3E}">
        <p14:creationId xmlns:p14="http://schemas.microsoft.com/office/powerpoint/2010/main" val="13047047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2026-06-03T08:57:50.5340000Z</dcterms:created>
  <dcterms:modified xsi:type="dcterms:W3CDTF">2026-06-03T08:57:50.5340000Z</dcterms:modified>
</coreProperties>
</file>