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4788a024594803" /><Relationship Type="http://schemas.openxmlformats.org/officeDocument/2006/relationships/extended-properties" Target="/docProps/app.xml" Id="Rf7a6858c30534fa4" /><Relationship Type="http://schemas.openxmlformats.org/officeDocument/2006/relationships/officeDocument" Target="/ppt/presentation.xml" Id="R1027a61f1c5a44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523fcc32564466"/>
  </p:sldMasterIdLst>
  <p:notesMasterIdLst>
    <p:notesMasterId xmlns:r="http://schemas.openxmlformats.org/officeDocument/2006/relationships" r:id="Raa862f973d6f4f4f"/>
  </p:notesMasterIdLst>
  <p:sldIdLst>
    <p:sldId xmlns:r="http://schemas.openxmlformats.org/officeDocument/2006/relationships" id="256" r:id="R0e7b1d92e5cb4ade"/>
    <p:sldId xmlns:r="http://schemas.openxmlformats.org/officeDocument/2006/relationships" id="257" r:id="Rf38b356194774e6b"/>
    <p:sldId xmlns:r="http://schemas.openxmlformats.org/officeDocument/2006/relationships" id="258" r:id="R0678cd5746464f57"/>
    <p:sldId xmlns:r="http://schemas.openxmlformats.org/officeDocument/2006/relationships" id="259" r:id="R5a4e3f7a099a4c5d"/>
    <p:sldId xmlns:r="http://schemas.openxmlformats.org/officeDocument/2006/relationships" id="260" r:id="R7758c4e2578346c4"/>
    <p:sldId xmlns:r="http://schemas.openxmlformats.org/officeDocument/2006/relationships" id="261" r:id="Rc84269d2b65b49b7"/>
    <p:sldId xmlns:r="http://schemas.openxmlformats.org/officeDocument/2006/relationships" id="262" r:id="R8de30ce000834759"/>
    <p:sldId xmlns:r="http://schemas.openxmlformats.org/officeDocument/2006/relationships" id="263" r:id="R3c34ea516d224ed2"/>
    <p:sldId xmlns:r="http://schemas.openxmlformats.org/officeDocument/2006/relationships" id="264" r:id="Rccf59e7cbf8d4513"/>
    <p:sldId xmlns:r="http://schemas.openxmlformats.org/officeDocument/2006/relationships" id="265" r:id="R85a319ed5feb4897"/>
    <p:sldId xmlns:r="http://schemas.openxmlformats.org/officeDocument/2006/relationships" id="266" r:id="Rbaaa1bb291c14254"/>
    <p:sldId xmlns:r="http://schemas.openxmlformats.org/officeDocument/2006/relationships" id="267" r:id="Rb73a8a2a868b469b"/>
    <p:sldId xmlns:r="http://schemas.openxmlformats.org/officeDocument/2006/relationships" id="268" r:id="R2d984c814a42423c"/>
    <p:sldId xmlns:r="http://schemas.openxmlformats.org/officeDocument/2006/relationships" id="269" r:id="Rf855fbdd3be24ae2"/>
    <p:sldId xmlns:r="http://schemas.openxmlformats.org/officeDocument/2006/relationships" id="270" r:id="Rd09d42214edc428b"/>
    <p:sldId xmlns:r="http://schemas.openxmlformats.org/officeDocument/2006/relationships" id="271" r:id="R8e9c3826136c45c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cac748237d43bd" /><Relationship Type="http://schemas.openxmlformats.org/officeDocument/2006/relationships/slideMaster" Target="/ppt/slideMasters/slideMaster1.xml" Id="Re2523fcc32564466" /><Relationship Type="http://schemas.openxmlformats.org/officeDocument/2006/relationships/notesMaster" Target="/ppt/notesMasters/notesMaster1.xml" Id="Raa862f973d6f4f4f" /><Relationship Type="http://schemas.openxmlformats.org/officeDocument/2006/relationships/presProps" Target="/ppt/presProps.xml" Id="R9b7f36edfe2c4846" /><Relationship Type="http://schemas.openxmlformats.org/officeDocument/2006/relationships/viewProps" Target="/ppt/viewProps.xml" Id="R91450e2b94c84bc5" /><Relationship Type="http://schemas.openxmlformats.org/officeDocument/2006/relationships/tableStyles" Target="/ppt/tableStyles.xml" Id="Redd1d0b9325b4bd4" /><Relationship Type="http://schemas.openxmlformats.org/officeDocument/2006/relationships/slide" Target="/ppt/slides/slide1.xml" Id="R0e7b1d92e5cb4ade" /><Relationship Type="http://schemas.openxmlformats.org/officeDocument/2006/relationships/slide" Target="/ppt/slides/slide2.xml" Id="Rf38b356194774e6b" /><Relationship Type="http://schemas.openxmlformats.org/officeDocument/2006/relationships/slide" Target="/ppt/slides/slide3.xml" Id="R0678cd5746464f57" /><Relationship Type="http://schemas.openxmlformats.org/officeDocument/2006/relationships/slide" Target="/ppt/slides/slide4.xml" Id="R5a4e3f7a099a4c5d" /><Relationship Type="http://schemas.openxmlformats.org/officeDocument/2006/relationships/slide" Target="/ppt/slides/slide5.xml" Id="R7758c4e2578346c4" /><Relationship Type="http://schemas.openxmlformats.org/officeDocument/2006/relationships/slide" Target="/ppt/slides/slide6.xml" Id="Rc84269d2b65b49b7" /><Relationship Type="http://schemas.openxmlformats.org/officeDocument/2006/relationships/slide" Target="/ppt/slides/slide7.xml" Id="R8de30ce000834759" /><Relationship Type="http://schemas.openxmlformats.org/officeDocument/2006/relationships/slide" Target="/ppt/slides/slide8.xml" Id="R3c34ea516d224ed2" /><Relationship Type="http://schemas.openxmlformats.org/officeDocument/2006/relationships/slide" Target="/ppt/slides/slide9.xml" Id="Rccf59e7cbf8d4513" /><Relationship Type="http://schemas.openxmlformats.org/officeDocument/2006/relationships/slide" Target="/ppt/slides/slide10.xml" Id="R85a319ed5feb4897" /><Relationship Type="http://schemas.openxmlformats.org/officeDocument/2006/relationships/slide" Target="/ppt/slides/slide11.xml" Id="Rbaaa1bb291c14254" /><Relationship Type="http://schemas.openxmlformats.org/officeDocument/2006/relationships/slide" Target="/ppt/slides/slide12.xml" Id="Rb73a8a2a868b469b" /><Relationship Type="http://schemas.openxmlformats.org/officeDocument/2006/relationships/slide" Target="/ppt/slides/slide13.xml" Id="R2d984c814a42423c" /><Relationship Type="http://schemas.openxmlformats.org/officeDocument/2006/relationships/slide" Target="/ppt/slides/slide14.xml" Id="Rf855fbdd3be24ae2" /><Relationship Type="http://schemas.openxmlformats.org/officeDocument/2006/relationships/slide" Target="/ppt/slides/slide15.xml" Id="Rd09d42214edc428b" /><Relationship Type="http://schemas.openxmlformats.org/officeDocument/2006/relationships/slide" Target="/ppt/slides/slide16.xml" Id="R8e9c3826136c45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ccb3b8babd43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b19706cb004541" /><Relationship Type="http://schemas.openxmlformats.org/officeDocument/2006/relationships/notesMaster" Target="/ppt/notesMasters/notesMaster1.xml" Id="Rc1106f690e1d40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ea6f53f94d44e9" /><Relationship Type="http://schemas.openxmlformats.org/officeDocument/2006/relationships/notesMaster" Target="/ppt/notesMasters/notesMaster1.xml" Id="Ra9ff4b9e8b0445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9280b90bbf408b" /><Relationship Type="http://schemas.openxmlformats.org/officeDocument/2006/relationships/notesMaster" Target="/ppt/notesMasters/notesMaster1.xml" Id="R6246e0b5e4d643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2a2abdccb04f8f" /><Relationship Type="http://schemas.openxmlformats.org/officeDocument/2006/relationships/notesMaster" Target="/ppt/notesMasters/notesMaster1.xml" Id="Rda33a1c91b0943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348bf224b014bd5" /><Relationship Type="http://schemas.openxmlformats.org/officeDocument/2006/relationships/notesMaster" Target="/ppt/notesMasters/notesMaster1.xml" Id="R20ef9c8d9abf49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517910291a4fb4" /><Relationship Type="http://schemas.openxmlformats.org/officeDocument/2006/relationships/notesMaster" Target="/ppt/notesMasters/notesMaster1.xml" Id="Ra5bf85aecf2f4f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5f2e6d02be49b9" /><Relationship Type="http://schemas.openxmlformats.org/officeDocument/2006/relationships/notesMaster" Target="/ppt/notesMasters/notesMaster1.xml" Id="R1c3ca3097c4647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d382c1fb8440a5" /><Relationship Type="http://schemas.openxmlformats.org/officeDocument/2006/relationships/notesMaster" Target="/ppt/notesMasters/notesMaster1.xml" Id="Re10680d4cde941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f8d8b7de7c483c" /><Relationship Type="http://schemas.openxmlformats.org/officeDocument/2006/relationships/notesMaster" Target="/ppt/notesMasters/notesMaster1.xml" Id="Rb2456b1119c042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834df86420424f" /><Relationship Type="http://schemas.openxmlformats.org/officeDocument/2006/relationships/notesMaster" Target="/ppt/notesMasters/notesMaster1.xml" Id="R00026022787e4e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55c4e17bc942ba" /><Relationship Type="http://schemas.openxmlformats.org/officeDocument/2006/relationships/notesMaster" Target="/ppt/notesMasters/notesMaster1.xml" Id="Rf6bc7663c17641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6161ed21584c21" /><Relationship Type="http://schemas.openxmlformats.org/officeDocument/2006/relationships/notesMaster" Target="/ppt/notesMasters/notesMaster1.xml" Id="R71a1df91e515468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31d124ca6b4640" /><Relationship Type="http://schemas.openxmlformats.org/officeDocument/2006/relationships/notesMaster" Target="/ppt/notesMasters/notesMaster1.xml" Id="Rcc4ac8e53fc245c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5390f96b78f4c39" /><Relationship Type="http://schemas.openxmlformats.org/officeDocument/2006/relationships/notesMaster" Target="/ppt/notesMasters/notesMaster1.xml" Id="R8dbffbb0e30c483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4bb418d5ad04e4b" /><Relationship Type="http://schemas.openxmlformats.org/officeDocument/2006/relationships/notesMaster" Target="/ppt/notesMasters/notesMaster1.xml" Id="Re33d345a116f496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c9c7ac7ae65423c" /><Relationship Type="http://schemas.openxmlformats.org/officeDocument/2006/relationships/notesMaster" Target="/ppt/notesMasters/notesMaster1.xml" Id="R494d8300be6044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85a287a00543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14002e784b460e" /><Relationship Type="http://schemas.openxmlformats.org/officeDocument/2006/relationships/slideLayout" Target="/ppt/slideLayouts/slideLayout1.xml" Id="R52993351c33748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993351c33748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47aec5cbb4f30" /><Relationship Type="http://schemas.openxmlformats.org/officeDocument/2006/relationships/notesSlide" Target="/ppt/notesSlides/notesSlide1.xml" Id="Rd1acd9bf7e6a49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4adecafa8438e" /><Relationship Type="http://schemas.openxmlformats.org/officeDocument/2006/relationships/notesSlide" Target="/ppt/notesSlides/notesSlide2.xml" Id="R2ce45445ae2441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2d0899e2245c5" /><Relationship Type="http://schemas.openxmlformats.org/officeDocument/2006/relationships/notesSlide" Target="/ppt/notesSlides/notesSlide3.xml" Id="R5fb24166b78d4b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979bd9a3046f4" /><Relationship Type="http://schemas.openxmlformats.org/officeDocument/2006/relationships/notesSlide" Target="/ppt/notesSlides/notesSlide4.xml" Id="R8ee8b4788dea4a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e090c013e46ad" /><Relationship Type="http://schemas.openxmlformats.org/officeDocument/2006/relationships/notesSlide" Target="/ppt/notesSlides/notesSlide5.xml" Id="R6ef99052017749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5128d36364abc" /><Relationship Type="http://schemas.openxmlformats.org/officeDocument/2006/relationships/notesSlide" Target="/ppt/notesSlides/notesSlide6.xml" Id="Rf43771967b004a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1880ef9a04f6a" /><Relationship Type="http://schemas.openxmlformats.org/officeDocument/2006/relationships/notesSlide" Target="/ppt/notesSlides/notesSlide7.xml" Id="R0388ab28882847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721a281dc47ac" /><Relationship Type="http://schemas.openxmlformats.org/officeDocument/2006/relationships/notesSlide" Target="/ppt/notesSlides/notesSlide8.xml" Id="Ra4ab936128b945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0d1edcb7147ab" /><Relationship Type="http://schemas.openxmlformats.org/officeDocument/2006/relationships/notesSlide" Target="/ppt/notesSlides/notesSlide9.xml" Id="R581acd97d086451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8eb2eaac74d63" /><Relationship Type="http://schemas.openxmlformats.org/officeDocument/2006/relationships/notesSlide" Target="/ppt/notesSlides/notesSlide10.xml" Id="Ra136d8cc3ad347f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bd803bf41416d" /><Relationship Type="http://schemas.openxmlformats.org/officeDocument/2006/relationships/notesSlide" Target="/ppt/notesSlides/notesSlide11.xml" Id="R3233cd2046644f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467224e434461" /><Relationship Type="http://schemas.openxmlformats.org/officeDocument/2006/relationships/notesSlide" Target="/ppt/notesSlides/notesSlide12.xml" Id="R1bdcf720963e4f9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f56a6de16405c" /><Relationship Type="http://schemas.openxmlformats.org/officeDocument/2006/relationships/notesSlide" Target="/ppt/notesSlides/notesSlide13.xml" Id="R0cccc3b4182e485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2c74eef8e45a9" /><Relationship Type="http://schemas.openxmlformats.org/officeDocument/2006/relationships/notesSlide" Target="/ppt/notesSlides/notesSlide14.xml" Id="Re6a2742e165a45b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513d45ef04ba3" /><Relationship Type="http://schemas.openxmlformats.org/officeDocument/2006/relationships/notesSlide" Target="/ppt/notesSlides/notesSlide15.xml" Id="R96b2d0653ddc4ce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731ef58334f6b" /><Relationship Type="http://schemas.openxmlformats.org/officeDocument/2006/relationships/notesSlide" Target="/ppt/notesSlides/notesSlide16.xml" Id="Re81c7008cab9488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9C1873-D20E-4BBF-9948-272EF8C9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23A86-64F0-4DBB-A723-62C837F8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53CF6-2055-43E9-970F-6ACA7402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0965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微型餐飲創業教學計劃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DD2C45-0CEE-4E97-BFB9-C7102CCF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rPr>
              <a:t>小資本，也能用準備與驗證重新出發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BC0ECA-344B-4B94-9789-00A1FAB1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A9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38AB4-9A5B-4B56-ADFE-DC1330DD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商業便當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9F4B5-B2BB-4A5B-9E75-00352A48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289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03A9D4-1433-4C47-A1FC-6548FC96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76525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1-2 人小火鍋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AB14C1-142B-4724-8DA4-CECA49B4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28900"/>
            <a:ext cx="2266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F3FC7F-1378-431E-80B1-84D0F734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76525"/>
            <a:ext cx="1962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台灣特色 × 法式冰店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AE7BE8-100B-4370-8569-D11B4C77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590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主講者｜弘光科技大學助理教授 葉佳山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583DD8-41C9-4D55-B38B-A2197EED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76675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對象｜想小型創業者、資金有限者、曾創業未成功但想再試一次者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5C3455-D1FC-4318-AE26-D8D8B0F5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87630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7C2B0-FFA8-4604-B298-94912031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257300"/>
            <a:ext cx="17621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B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5BA99A"/>
                </a:solidFill>
                <a:latin typeface="Arial Unicode MS"/>
                <a:ea typeface="Arial Unicode MS"/>
                <a:cs typeface="Arial Unicode MS"/>
              </a:rPr>
              <a:t>先小量</a:t>
            </a:r>
          </a:p>
          <a:p xmlns:a="http://schemas.openxmlformats.org/drawingml/2006/main">
            <a:pPr algn="ctr">
              <a:defRPr sz="2550" b="1">
                <a:solidFill>
                  <a:srgbClr val="5B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5BA99A"/>
                </a:solidFill>
                <a:latin typeface="Arial Unicode MS"/>
                <a:ea typeface="Arial Unicode MS"/>
                <a:cs typeface="Arial Unicode MS"/>
              </a:rPr>
              <a:t>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4D292B-E472-406D-8385-E835DF24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09800"/>
            <a:ext cx="17621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rPr>
              <a:t>再穩定</a:t>
            </a:r>
          </a:p>
          <a:p xmlns:a="http://schemas.openxmlformats.org/drawingml/2006/main">
            <a:pPr algn="ctr">
              <a:defRPr sz="25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rPr>
              <a:t>複製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58CA75-CF45-4B9D-BEF1-0207214B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EBD1F3-EFF9-46A4-B25E-8CE01B57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封面｜微型餐飲創業教學計劃</a:t>
            </a:r>
          </a:p>
        </p:txBody>
      </p:sp>
    </p:spTree>
    <p:extLst>
      <p:ext uri="{BB962C8B-B14F-4D97-AF65-F5344CB8AC3E}">
        <p14:creationId xmlns:p14="http://schemas.microsoft.com/office/powerpoint/2010/main" val="13890910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D352A4-0683-42FD-95F6-D036256F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C80FA9-8018-4F2C-8442-51A7C858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這門課要帶走什麼？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605E3D-785E-49F7-8DF0-78D73BA9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不是盲目開店，而是建立能活下來的小生意。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B9334-536E-4CEB-9D0F-C1912328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323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9D2335-CEE0-4B4D-85FE-2E0524BD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52625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7C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9805B-4472-4844-B3F4-D4B91647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2838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看懂基本盤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4F687-A1B2-4C16-9549-439AF502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76500"/>
            <a:ext cx="2838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登記、稅務、食安、資金與成本，不再靠感覺硬衝。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C36BF-B7A8-479A-8743-DDCD2910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52625"/>
            <a:ext cx="323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3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51922B-6A4A-4343-8DC5-70876EC9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52625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A9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3E37C-C2CD-4472-BEFA-3562883A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124075"/>
            <a:ext cx="2838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選對第一步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34358C-56D7-4083-8FF6-B08DA700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76500"/>
            <a:ext cx="2838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便當、小火鍋、冰店，或先從預購、快閃、外帶測試開始。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CBE737-2993-4EE5-8873-83313831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323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B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7AD1DB-AE54-4842-8265-E85FE4B6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52625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22AD4-E798-4994-95BB-189293A4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24075"/>
            <a:ext cx="2838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完成一頁計劃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745028-1EAD-42EB-A29D-CF297BBA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0"/>
            <a:ext cx="2838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目標客群、菜單、成本、定價與開店前 30 日行動表。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5A88AE-8EF7-4DDD-8717-C3ED8329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課程核心：小坪數、少人力、高辨識度、可標準化、可外帶或預約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0D111A-97C4-42C8-9328-8C799EB9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1017D0-E393-4C07-AC16-425B5CBB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課程總目標｜先小量驗證，再穩定複製</a:t>
            </a:r>
          </a:p>
        </p:txBody>
      </p:sp>
    </p:spTree>
    <p:extLst>
      <p:ext uri="{BB962C8B-B14F-4D97-AF65-F5344CB8AC3E}">
        <p14:creationId xmlns:p14="http://schemas.microsoft.com/office/powerpoint/2010/main" val="115206774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C918E-75FD-4AEA-B244-34F3F540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8F2B5-A136-456E-9D5B-9B60AE17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第一章：先把自己準備成老闆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5D2929-DFDA-4B55-9B1E-DCA2915B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真正勇敢的人，是知道風險在哪裡，仍願意一步一步走。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89796-A7FC-43A4-AD7B-421F5A4B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52625"/>
            <a:ext cx="447675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F"/>
          </a:solidFill>
          <a:ln xmlns:a="http://schemas.openxmlformats.org/drawingml/2006/main" w="9525">
            <a:solidFill>
              <a:srgbClr val="E8D6A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8A66F6-1A19-4CD4-9402-E4AA0B3C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24075"/>
            <a:ext cx="405765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失敗不是污點。</a:t>
            </a:r>
          </a:p>
          <a:p xmlns:a="http://schemas.openxmlformats.org/drawingml/2006/main">
            <a:pPr algn="l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它是下一次少繳學費的資料。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189D2-EC5B-4A43-B0D5-416A2F07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381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這一次，我們不靠衝動開店。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1621C-2AB5-4E46-9598-F285BF37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476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靠準備、紀律、驗證與服務，</a:t>
            </a:r>
          </a:p>
          <a:p xmlns:a="http://schemas.openxmlformats.org/drawingml/2006/main">
            <a:pPr algn="l">
              <a:defRPr sz="165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把小生意做成能修正、能持續、能複製的事業。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E45C6-77CE-4568-8BCB-EE31F2FD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4095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EDD54E-D870-4CEA-9D69-A3191AB0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3CD79-29AA-43E0-86FB-D0A8A480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第一章｜創業者的準備與勇氣</a:t>
            </a:r>
          </a:p>
        </p:txBody>
      </p:sp>
    </p:spTree>
    <p:extLst>
      <p:ext uri="{BB962C8B-B14F-4D97-AF65-F5344CB8AC3E}">
        <p14:creationId xmlns:p14="http://schemas.microsoft.com/office/powerpoint/2010/main" val="176630297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46F49C-98F0-48FD-8D80-CA56ACD2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A7A21B-FB25-4D45-A0DA-EAC0E01E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現在就去挑戰的 8 個方向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816735-09F2-4627-BEC5-D4D13CEE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今天先做一件事，讓創業從想法變成資料。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9B2BE-FE95-4C19-AF6E-10D0686C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0025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5B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5BA99A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405E0-D025-4C75-AD1B-C538019C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148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列資金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C33FE-1590-47B2-9A63-3783507B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0025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4A763D-F781-4087-8819-15EEB982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00350"/>
            <a:ext cx="148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選一業態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CC9056-AA2D-4148-8892-64F8BE91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D9A44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D9A441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4382A-FDFB-481A-8A87-CF12CF2E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800350"/>
            <a:ext cx="148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訪問10人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73211-ED68-4314-9576-230FD34D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025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B8AEC-0378-4BFB-A78E-72E6C304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00350"/>
            <a:ext cx="148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查法規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C0A9E-9807-47EC-AF83-E5EE2A7F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1000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7AA95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7AA95C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8D5D29-85AA-4275-8B47-18BF1840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610100"/>
            <a:ext cx="148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試做3品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0F94E-5D60-41D0-B238-7F63102A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81000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5B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5BA99A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56FCB4-8B28-4D57-A9FA-F1090BC9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10100"/>
            <a:ext cx="148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小菜單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59B47A-6DC0-4D40-99C2-122574F9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1000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6A356F-D4A7-47EE-AA21-0500C302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610100"/>
            <a:ext cx="148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7天試賣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92991-5B9A-4B7F-8C97-FB40A7AB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10000"/>
            <a:ext cx="114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D9A44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D9A441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6650EE-4D9D-45D7-AC56-C226BFD8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610100"/>
            <a:ext cx="1485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每天記帳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E9A64E-2948-4453-9147-97CA3EF3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C104D3-4166-46D4-BBB5-074E7D64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第一章｜現在就去挑戰的方向</a:t>
            </a:r>
          </a:p>
        </p:txBody>
      </p:sp>
    </p:spTree>
    <p:extLst>
      <p:ext uri="{BB962C8B-B14F-4D97-AF65-F5344CB8AC3E}">
        <p14:creationId xmlns:p14="http://schemas.microsoft.com/office/powerpoint/2010/main" val="5504806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057FF6-3AAB-438D-970D-D61AD726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99B48B-7A1E-49EE-AAAF-03BF1152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第二章：微型餐飲共同基本功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5CAE5E-CAE6-4EE4-AB2A-78FC792E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資金不多時，先追求流程短、庫存少、可預訂。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DE883-D2F1-421E-AFD8-762AD09F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952625"/>
            <a:ext cx="438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5ED2C3-715E-40E7-96FD-B36729A3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952625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7C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C0C528-8702-4A69-84B4-3C37453B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124075"/>
            <a:ext cx="3981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法規線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3EF429-DF97-4B85-85FE-14907538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2476500"/>
            <a:ext cx="3981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商業登記、稅籍登記、食品業者登錄、地方衛生要求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E912D-73B4-4891-BACA-EA8ECEE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952625"/>
            <a:ext cx="438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AD67D-077C-49B1-BB55-D0F6C738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952625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A9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C4CE32-8BF7-4D56-9E57-5E6D8FA8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124075"/>
            <a:ext cx="3981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食安線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3BA49-1906-450F-8483-CA6AEF67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76500"/>
            <a:ext cx="3981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人員衛生、來源、溫度、保存、交叉污染管理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1B43B7-A65C-49F4-BB1B-068992C9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71875"/>
            <a:ext cx="438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BD6FE6-3886-4381-B7DE-4C208D70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71875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EB026F-5B2F-44C6-8972-0E17CABE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743325"/>
            <a:ext cx="3981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成本線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F28498-5422-456D-B508-0395972F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095750"/>
            <a:ext cx="3981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食材、包材、租金、人力、水電瓦斯、平台抽成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266B94-15C5-44D0-8F92-C4301D3D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571875"/>
            <a:ext cx="438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A157A1-8B70-4C0D-B826-07B90800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571875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5C3073-BEEE-46E6-88F1-C5E04C84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743325"/>
            <a:ext cx="3981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品牌線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373C67-9D7A-49A4-B87A-120A18A0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095750"/>
            <a:ext cx="3981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店名、菜單語言、招牌產品、顧客記憶點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92AFA1-E82C-43A1-BF2E-8F37A13F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E9CA48-2C40-4D5A-9DAD-BD60EDC4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第二章｜微型餐飲創業的共同基本功</a:t>
            </a:r>
          </a:p>
        </p:txBody>
      </p:sp>
    </p:spTree>
    <p:extLst>
      <p:ext uri="{BB962C8B-B14F-4D97-AF65-F5344CB8AC3E}">
        <p14:creationId xmlns:p14="http://schemas.microsoft.com/office/powerpoint/2010/main" val="21461714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39AE92-14F2-4EB6-88A3-901D235D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4169E-98C0-4B22-AD79-A6E676A5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售價不能只看隔壁賣多少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8139BF-E7D3-4ADB-AAA6-D9E9A990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小店要先看懂自己的每一份成本。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28A79-E5A4-4271-A0CC-6DBB55E6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438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3B408-3646-4B7D-87FD-73DB5386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52650"/>
            <a:ext cx="3810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rPr>
              <a:t>每份直接成本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C18CF-FFF9-43BA-8934-ABBD2FEF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9080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主食材 + 副食材 + 調味 + 包材 + 平台費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076F-B601-4E1A-8CB8-776E6672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52625"/>
            <a:ext cx="438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B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9CB9D7-E94F-4C07-9760-AD40E0EA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52650"/>
            <a:ext cx="3810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rPr>
              <a:t>基本售價思考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57410-D52C-4CCF-A8CA-312B7BBD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9080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售價 = 每份直接成本 / 目標食材成本率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A1F4D-9DE9-431E-9DB9-85015E7C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719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例：直接成本 55 元，目標食材成本率 35%，售價約 157 元。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E1152-0EBB-42E9-9A87-F14653A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DB57F0-3B51-4721-8932-C5716CB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第二章｜成本與定價基本公式</a:t>
            </a:r>
          </a:p>
        </p:txBody>
      </p:sp>
    </p:spTree>
    <p:extLst>
      <p:ext uri="{BB962C8B-B14F-4D97-AF65-F5344CB8AC3E}">
        <p14:creationId xmlns:p14="http://schemas.microsoft.com/office/powerpoint/2010/main" val="948878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01BE0D-782C-4943-A79C-8221B900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B663D0-A2CF-4ED1-99F2-AFFEBF7F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第三章：商業便當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551FE4-178B-461B-A164-3C1C43E6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最適合從規律需求與團訂開始的小資本題目。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E040D-0258-49DC-8C82-187EFDFC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2861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0352DE-EF84-4989-BC00-933505DA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62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A9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15D9E-A934-4C08-ABF6-FC1082BE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2886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目標客群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59F4CD-6470-489A-BD1B-5951D242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288607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辦公室、醫護輪班、補習班、會議活動、健身健康族群。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28084-AE64-48DF-9413-EAFD3BF4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52625"/>
            <a:ext cx="32861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72183F-6932-4FB2-AF24-2ACDD07D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52625"/>
            <a:ext cx="762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B2E499-834A-40A0-B1D5-4B423338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24075"/>
            <a:ext cx="2886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定位不要只叫便當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D9A7F-5C64-425B-9A54-23B0F2B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8607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高蛋白、少油少鹽、台式經典、會議形象、在地小農。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6628BB-9717-4100-96B6-7D5D60C4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52625"/>
            <a:ext cx="32861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8AC2AD-99C0-4666-856E-93FC6791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52625"/>
            <a:ext cx="762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E98CB2-9876-4216-845B-0D3DF7EA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24075"/>
            <a:ext cx="2886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先用預購制降低風險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324A16-3D14-4452-A876-44D9C478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76500"/>
            <a:ext cx="288607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前一日收單，按訂單備料，降低報廢與現金壓力。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07F151-7C2E-4ADE-9C93-123E14A5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7675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便當的本質：穩定、準時、好吃、好算。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2C3EBE-50C9-422A-8584-482FFB07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791824-3753-41CA-BBC6-7351CACA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第三章｜商業便當創業教學</a:t>
            </a:r>
          </a:p>
        </p:txBody>
      </p:sp>
    </p:spTree>
    <p:extLst>
      <p:ext uri="{BB962C8B-B14F-4D97-AF65-F5344CB8AC3E}">
        <p14:creationId xmlns:p14="http://schemas.microsoft.com/office/powerpoint/2010/main" val="80050909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9E779D-EEF9-46A5-9FD1-730D6AB5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3F29F6-888A-4B63-AE4C-3D870377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商業便當的一日流程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9C7CD-E72D-4302-9962-5C779DB8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把流程拆清楚，才知道哪裡會賺、哪裡會漏。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9FB33-06A3-4775-99AB-926D93E9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1190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3F114A-08A0-49FC-A351-F1B96F39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1000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18:00</a:t>
            </a:r>
          </a:p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前日收單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9F9834-7027-4226-A695-367D7394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895600"/>
            <a:ext cx="266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7C699-5B2A-46BF-A660-14D1EA65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2476500"/>
            <a:ext cx="1190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3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FA90AA-5930-44D0-A05C-7EA8402F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647950"/>
            <a:ext cx="1000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20:00</a:t>
            </a:r>
          </a:p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確認食材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C1EA4-FB52-43AD-A835-208AB3D8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895600"/>
            <a:ext cx="266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BFCBA-4308-4874-8884-A2AFBD65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76500"/>
            <a:ext cx="1190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0DE8B7-B80D-4BB6-A39C-F2E39402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47950"/>
            <a:ext cx="1000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08:00</a:t>
            </a:r>
          </a:p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備料烹調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5C519-1594-41CF-9D82-0EFCCF37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95600"/>
            <a:ext cx="266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7381D9-ACE9-4BEA-86C6-A1E692EE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76500"/>
            <a:ext cx="1190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3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F04F60-9025-489C-BA92-21AEC417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647950"/>
            <a:ext cx="1000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10:00</a:t>
            </a:r>
          </a:p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分裝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C6F424-4EB2-49D2-943C-91CCE16F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895600"/>
            <a:ext cx="266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1A0D4B-B567-4B48-A410-F0564ABC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76500"/>
            <a:ext cx="1190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7925A4-2707-4605-AC1A-783CDF31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47950"/>
            <a:ext cx="1000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10:30</a:t>
            </a:r>
          </a:p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品檢貼標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7E1989-9CED-4082-A363-518A06C6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95600"/>
            <a:ext cx="266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C98F49-1D51-4AAE-879B-2A896F05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476500"/>
            <a:ext cx="1190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3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383335-C4C6-4F1F-949A-641D6AE9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647950"/>
            <a:ext cx="1000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11-12</a:t>
            </a:r>
          </a:p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配送取餐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A2A6B1-4358-4925-8BD1-28DE3340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2895600"/>
            <a:ext cx="266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9AF932-D4D6-45E2-84E1-45005292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476500"/>
            <a:ext cx="1190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E035C4-D6F6-45BF-AF79-E7865998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47950"/>
            <a:ext cx="10001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14:00</a:t>
            </a:r>
          </a:p>
          <a:p xmlns:a="http://schemas.openxmlformats.org/drawingml/2006/main">
            <a:pPr algn="ctr">
              <a:def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結算報廢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BA3040-D04A-45A8-B46B-80109FF1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815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rPr>
              <a:t>第一個月重點：試賣 30 份、開發 2 個團訂客戶、修正菜單與配送。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826AE8-8674-45B1-97E3-439B43F4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FAA3E7-C2AF-41FB-A6B7-29E90610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第三章｜商業便當營運流程</a:t>
            </a:r>
          </a:p>
        </p:txBody>
      </p:sp>
    </p:spTree>
    <p:extLst>
      <p:ext uri="{BB962C8B-B14F-4D97-AF65-F5344CB8AC3E}">
        <p14:creationId xmlns:p14="http://schemas.microsoft.com/office/powerpoint/2010/main" val="13486934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8751E2-9A4A-427C-BA55-AECC41C3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7A96F-8377-4D3D-9FD7-BE491B50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第四章：主題化 1-2 人小火鍋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13E6B-05C7-42E0-BF6E-FAD5044A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不是大店比豪華，而是小座位也有明確情境。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2DEAE-8801-4119-9C87-6410E712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BFC02D-8FFA-4F0A-B9B5-4129D4ED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A9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B6EC7E-A32F-4EB4-99EC-B9898EB8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209800"/>
            <a:ext cx="2457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一人療癒鍋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D5772-D5B6-4DC9-BD9E-3984DCC4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62225"/>
            <a:ext cx="2457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安靜、乾淨、快速，下班後能放鬆。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05D253-3904-4E0E-A1EB-AED29822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887FC-FDFE-4FA8-89F7-B9C7E2CD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7D2A79-7E8F-4C9F-B4CB-FC0804EC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09800"/>
            <a:ext cx="2457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雙人儀式鍋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294DB-DF21-44BE-A9D5-8B89B4B8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62225"/>
            <a:ext cx="2457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適合約會、好友聊天，有記憶點的套餐。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C7EC0-043B-4AC0-87C7-ACB67829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383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5DD9A-6EEB-4542-B4B4-AA894251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383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C2813C-3315-44D6-AFDC-95DC315E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09800"/>
            <a:ext cx="2457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台味特色鍋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85AB16-BC04-4137-BD3C-4E62A3ED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62225"/>
            <a:ext cx="2457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麻油雞、剝皮辣椒雞、沙茶石頭鍋。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E25274-85DB-45FE-9C54-0F1737FA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29125"/>
            <a:ext cx="962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小火鍋成功關鍵：湯底穩定、食材模組化、翻桌節奏清楚。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615AF9-635B-446C-AC30-F00C0DB8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493E82-2A37-4083-BE6B-5D9F1DE0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第四章｜主題化 1-2 人小火鍋</a:t>
            </a:r>
          </a:p>
        </p:txBody>
      </p:sp>
    </p:spTree>
    <p:extLst>
      <p:ext uri="{BB962C8B-B14F-4D97-AF65-F5344CB8AC3E}">
        <p14:creationId xmlns:p14="http://schemas.microsoft.com/office/powerpoint/2010/main" val="380765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58B5C8-3B9E-4144-BED8-7C744CE1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B9021-85CB-41BF-85B0-D3393F3C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小火鍋菜單：3 湯底 × 3 主餐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675811-944E-445D-8FE3-17CD6662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先讓供應鏈與出餐穩，再談變化。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67F18-FBBF-4245-BFF8-E490B518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5262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rPr>
              <a:t>湯底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1FD42-9879-4736-AE3A-B8AF874C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rPr>
              <a:t>主餐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7F1EEB-39CA-4E25-8D14-A908BC08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844B0-874F-4DC3-B0A8-196D848D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台式沙茶石頭湯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735A6-8939-47D1-9BB2-126A8C9B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5280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6B122-D6E8-41BE-91C3-29591157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86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法式番茄蔬菜湯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ADF04-F9D9-4E70-9324-B8A7824A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338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8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6452A-B83B-4862-ABCD-E3257971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672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麻油雞風味湯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79BC0B-8F56-4E5C-9C06-E954A191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717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B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16B8D-8C3C-4E10-B43A-550CA6B1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051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豬肉片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56AD11-D663-4B60-8B2C-7DF213B1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5280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B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22F86F-99F7-40B6-84AF-BC5CE1F2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雞腿肉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85C9F9-3A0B-440A-85CD-72EC17C3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33850"/>
            <a:ext cx="323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B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D846E-6CF2-4B32-8FE3-7023FAF3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672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海鮮或菇菇蔬食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75F1AC-0E7E-4EAD-BE44-05CA705C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143500"/>
            <a:ext cx="4838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A44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A441"/>
                </a:solidFill>
                <a:latin typeface="Arial Unicode MS"/>
                <a:ea typeface="Arial Unicode MS"/>
                <a:cs typeface="Arial Unicode MS"/>
              </a:rPr>
              <a:t>+ 手工丸餃 / 起司 / 香草奶油升級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063F2-AAAD-4063-AB1A-0B23E315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34C671-C54C-4ECB-96D8-2FDD8C01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第四章｜菜單模組與成本控制</a:t>
            </a:r>
          </a:p>
        </p:txBody>
      </p:sp>
    </p:spTree>
    <p:extLst>
      <p:ext uri="{BB962C8B-B14F-4D97-AF65-F5344CB8AC3E}">
        <p14:creationId xmlns:p14="http://schemas.microsoft.com/office/powerpoint/2010/main" val="11932710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A4E5B2-673F-453E-AEB7-785F91D5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20EBBB-62C8-4F05-BE17-A49FC178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第五章：台灣特色 × 法式風格冰店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F2DCD9-9ABD-45A9-B20B-9D4D12C1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把台灣味做得更細緻、更有層次、更好分享。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30252-EF43-4545-9E69-A6BD4F8E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2476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CBE5F-F71F-40DF-B30C-429759C8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ADF52-480E-45DD-AC05-71E42BE9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19325"/>
            <a:ext cx="2076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台灣水果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1C433-07DB-4066-81E4-E69D5B39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71750"/>
            <a:ext cx="2076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芒果、百香果、鳳梨、草莓，跟著季節走。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C63CB8-CB0E-47CC-B24D-08046694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047875"/>
            <a:ext cx="2476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A17E6-0D9C-4310-A3DA-EA0DAD97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047875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5FD9E8-987F-4F7F-BE43-66F8AE1F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19325"/>
            <a:ext cx="2076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法式細節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CE43A1-1B73-4D70-909F-15156919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571750"/>
            <a:ext cx="2076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庫利、香緹、凝乳、布蕾、酥脆配料。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B723D5-5752-41A4-AC6C-D97A087D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2476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6E6005-3461-4CBF-982B-1CC2B261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A9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4850AC-4CF8-4428-B543-0FD1D8D4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19325"/>
            <a:ext cx="2076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社群畫面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ABD917-2EFB-43B5-93B8-284E567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71750"/>
            <a:ext cx="2076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每一碗都要能說故事，也能穩定拍得漂亮。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96F42-50DE-4862-88D2-D8DFEB09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47875"/>
            <a:ext cx="2190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9CA90-721A-4827-AB37-1E04590E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47875"/>
            <a:ext cx="762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7C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28765B-6AC0-4D7B-867A-4D4A3590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19325"/>
            <a:ext cx="1790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季節策略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C8BC70-9F9B-4639-ADE9-1194F762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571750"/>
            <a:ext cx="1790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夏天水果冰，雨天與冬季轉熱甜湯、茶飲、小點。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AF347E-9BFA-4106-81C3-4DE60B8B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72000"/>
            <a:ext cx="942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法式不是昂貴，是層次、擺盤、命名與穩定。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D2328E-E0A4-4DD8-9A15-03EC4E15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4099A9-1559-485A-82E1-F978F7C79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第五章｜台灣特色加法式風格冰店</a:t>
            </a:r>
          </a:p>
        </p:txBody>
      </p:sp>
    </p:spTree>
    <p:extLst>
      <p:ext uri="{BB962C8B-B14F-4D97-AF65-F5344CB8AC3E}">
        <p14:creationId xmlns:p14="http://schemas.microsoft.com/office/powerpoint/2010/main" val="177101335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BD4E45-4A2B-4F03-81E1-74561453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38A3F-274A-47CB-8242-802ABA70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四款招牌冰：用故事讓產品被記住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C39AD-7AA2-423F-985B-4FB59674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初期不做多，先做出清楚的招牌。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C69C4-A14D-43DF-BD61-AD83F98B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4686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75B18-95D7-494F-A69B-15187F55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514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E23CD-44EA-4854-841A-48095F51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38375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芒果米香香緹冰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D45E8D-625D-432D-BEF1-A7D30E2E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38425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芒果、米香、鮮奶香緹、百香果醬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366FC-3DF1-4004-AE5A-73FCC612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47875"/>
            <a:ext cx="4686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50C71B-3584-44E7-B533-A2182730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47875"/>
            <a:ext cx="514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A9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B9106E-2FBD-4BFC-B54A-693515D6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38375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鐵觀音焦糖冰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970F3-8199-4793-BD0A-C0F69594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38425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茶香雪花冰、焦糖醬、杏仁酥片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8F9A9A-6FA2-4D73-99F5-1A685F7E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4686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5D1E5F-BBC0-4E05-A93C-D3A00439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514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083EAF-92DA-4BC2-BAA3-F43F7F10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1000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花生粉粿布蕾冰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D25F0-B930-47FE-A453-F9C72964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100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台灣花生、手作粉粿、烤布蕾元素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EE3975-2597-4C22-87ED-397FDE7D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19500"/>
            <a:ext cx="46863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93A32D-1817-477C-A78F-FEF783CE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19500"/>
            <a:ext cx="514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7C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77A057-D465-42F0-BD87-D0EC4A1A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81000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仙草莓果法式冰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AC0BE3-E3D9-4134-A1AF-461CF665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210050"/>
            <a:ext cx="3619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仙草、莓果庫利、檸檬凝乳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0C6AEE-F23A-40D0-9FD9-14A795DA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749656-BE42-4792-96C0-B37BAE8B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第五章｜招牌產品設計</a:t>
            </a:r>
          </a:p>
        </p:txBody>
      </p:sp>
    </p:spTree>
    <p:extLst>
      <p:ext uri="{BB962C8B-B14F-4D97-AF65-F5344CB8AC3E}">
        <p14:creationId xmlns:p14="http://schemas.microsoft.com/office/powerpoint/2010/main" val="186223001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59D033-EFE7-4A6A-B4F3-7D9D42AD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607BE2-ABD3-4BD2-8621-4C9F114F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第六章：曾經失敗者的重新出發策略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13B9A1-0860-4A9C-B10A-1AEAF07D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先復盤，不自責；先測試，不擴張。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212DA-4482-4400-A1B0-FD551A67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38375"/>
            <a:ext cx="4095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2ED9D-5E17-4972-9B4C-8783108D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38375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0600EA-8E64-4FA3-B6CC-49D8067F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09825"/>
            <a:ext cx="3695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三不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4A04B-B4D5-4157-A260-DCD11A81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62250"/>
            <a:ext cx="3695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不先租大店面</a:t>
            </a:r>
          </a:p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不一次開太多品項</a:t>
            </a:r>
          </a:p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不在沒有資料時擴張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E8855A-69E2-4508-9985-B65CEA55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38375"/>
            <a:ext cx="4095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813C7-E308-4BDE-AD14-CD8CF074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38375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A9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60BAEE-9F60-4EEC-AC90-7E859467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09825"/>
            <a:ext cx="3695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三要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EAE6D-6C3B-4103-A4F8-4AD9D2CC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62250"/>
            <a:ext cx="3695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要先做 30 天小量測試</a:t>
            </a:r>
          </a:p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要每天記錄營收與回饋</a:t>
            </a:r>
          </a:p>
          <a:p xmlns:a="http://schemas.openxmlformats.org/drawingml/2006/main">
            <a:pPr algn="l">
              <a:def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405163"/>
                </a:solidFill>
                <a:latin typeface="Arial Unicode MS"/>
                <a:ea typeface="Arial Unicode MS"/>
                <a:cs typeface="Arial Unicode MS"/>
              </a:rPr>
              <a:t>要把法規食安列為開業任務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95F08A-5628-497E-8208-51DFEFB9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990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第二次創業，不是證明自己沒錯；是用更成熟的方法再試一次。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7F4014-13C6-41A7-B7B8-0A3A8D37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610EC2-E046-47D3-ACD1-4E4F1E7AC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第六章｜失敗者的復盤與再出發</a:t>
            </a:r>
          </a:p>
        </p:txBody>
      </p:sp>
    </p:spTree>
    <p:extLst>
      <p:ext uri="{BB962C8B-B14F-4D97-AF65-F5344CB8AC3E}">
        <p14:creationId xmlns:p14="http://schemas.microsoft.com/office/powerpoint/2010/main" val="187438817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FF3BA6-141F-4381-8279-3F4A381B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ABA4D-A38E-4F81-9C3A-5F1B2003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第七章：課程總作業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B185B-0C92-40BD-A7B8-FA3916C1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每位學員帶著一份可以試賣的計劃離開。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4862D8-74AA-44B5-A557-F0F26D15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00250"/>
            <a:ext cx="2619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01A9E-08FD-4CCA-9B25-5AFD8C2B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209800"/>
            <a:ext cx="2276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一頁式創業構想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D303FD-264D-434B-B299-F95940E3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2619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3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57D6C5-ADB1-43E2-BA1B-486B1DFD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09800"/>
            <a:ext cx="2276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顧客訪談紀錄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F7DAE6-C1F3-424F-AA32-CECB9F64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00250"/>
            <a:ext cx="2619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50B895-09E7-4C75-B7F3-39810003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209800"/>
            <a:ext cx="2276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3-5 品項菜單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21DC1-8E06-4678-AE3F-0A1066F0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124200"/>
            <a:ext cx="2619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3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F39B9-8D63-4B7A-A435-9F2A95BE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3333750"/>
            <a:ext cx="2276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成本與售價試算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C3B709-404E-4B1D-AE89-7BEA4172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24200"/>
            <a:ext cx="2619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7F5BBE-B370-4C98-A3C0-59494D29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33750"/>
            <a:ext cx="2276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法規待辦清單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969B85-99D2-4BE0-B4D3-7038B8A3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124200"/>
            <a:ext cx="2619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3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A9EC31-77D3-42BB-9F49-F6475123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333750"/>
            <a:ext cx="2276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30 天測試計劃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614B8D-3B78-415C-A97F-209013ED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248150"/>
            <a:ext cx="2619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D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A8FC2-AE8E-40BF-A290-57EFAA66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457700"/>
            <a:ext cx="2276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三分鐘口頭簡報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36B928-E1D8-4685-8BA8-161B6712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10EBA7-4CDE-4F64-BA2E-36FF261A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第七章｜課程總作業與成果發表</a:t>
            </a:r>
          </a:p>
        </p:txBody>
      </p:sp>
    </p:spTree>
    <p:extLst>
      <p:ext uri="{BB962C8B-B14F-4D97-AF65-F5344CB8AC3E}">
        <p14:creationId xmlns:p14="http://schemas.microsoft.com/office/powerpoint/2010/main" val="9067597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82F013-B778-4A6B-B946-5968CB83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A64F11-E270-4028-92F4-74384F22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7620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開業前 30 日行動表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6B034-DD51-4275-873B-123001E1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162050"/>
            <a:ext cx="7429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B8794"/>
                </a:solidFill>
                <a:latin typeface="Arial Unicode MS"/>
                <a:ea typeface="Arial Unicode MS"/>
                <a:cs typeface="Arial Unicode MS"/>
              </a:rPr>
              <a:t>不是等準備完美才開始，而是用 30 天讓想法變清楚。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F369F0-A619-4A49-8FF9-B44ACFC1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33625"/>
            <a:ext cx="1714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94F8CC-55D5-424D-AFBE-5DF6E23F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33625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A9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5C76AE-5F7E-4B13-82A6-4F6A9A23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9825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1-6 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7B978-8255-42A1-A68E-F9888D48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86100"/>
            <a:ext cx="1371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選業態</a:t>
            </a:r>
          </a:p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訪問顧客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4C81D8-F0CE-4E96-8AB3-DA4FA0C6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33625"/>
            <a:ext cx="1714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8B69BC-1B8E-4360-889E-EF39025B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33625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924D7-CB85-4EB3-A7C3-25D16683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09825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7-12 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4B9019-37B1-4846-9910-CFD1FDD1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86100"/>
            <a:ext cx="1371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試做產品</a:t>
            </a:r>
          </a:p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成本定價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58A97-BFAC-4BD9-A66B-A7D17185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333625"/>
            <a:ext cx="1714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8FF715-8075-4B49-96AB-74FA3FC7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333625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7C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1B042D-D189-42D0-B39E-625AB593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09825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13-18 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51A0BF-6FE3-4A8B-AF30-41455203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86100"/>
            <a:ext cx="1371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查登記食安</a:t>
            </a:r>
          </a:p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設計菜單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913FCE-CB5E-4943-B6DE-8BF770F7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33625"/>
            <a:ext cx="1714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D699C4-381C-4755-B6B6-CB9E15D2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33625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6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4D2CD6-1FB2-46D7-A047-4F658995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09825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19-24 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28CD37-A713-4A45-87E4-BD5FFF52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86100"/>
            <a:ext cx="1371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小量試賣</a:t>
            </a:r>
          </a:p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修正產品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84DF4A-62D2-44AB-88C7-FDF4E107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333625"/>
            <a:ext cx="1714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745118-284D-4599-A9BA-2E437DEA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333625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A9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07F13E-3AAE-4BF6-A02A-6EE8DA29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09825"/>
            <a:ext cx="1485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25-30 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226AF0-73C7-4092-810B-E0195DB8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86100"/>
            <a:ext cx="1371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建立 SOP</a:t>
            </a:r>
          </a:p>
          <a:p xmlns:a="http://schemas.openxmlformats.org/drawingml/2006/main">
            <a:pPr algn="ctr">
              <a:def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決定下一輪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C364C6-3ECD-4995-BF1F-CB321A66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46D2DC-97BE-4F95-B328-779E5025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附錄｜開業前 30 日行動表</a:t>
            </a:r>
          </a:p>
        </p:txBody>
      </p:sp>
    </p:spTree>
    <p:extLst>
      <p:ext uri="{BB962C8B-B14F-4D97-AF65-F5344CB8AC3E}">
        <p14:creationId xmlns:p14="http://schemas.microsoft.com/office/powerpoint/2010/main" val="3636533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529C0F-FB24-4A9C-9E33-8703EFA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9F2975-C270-4641-A2E2-C5CA2495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381125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今天，不必等待所有條件完美。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345273-1A09-447C-A133-A0196E8A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43150"/>
            <a:ext cx="8915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3A7CA5"/>
                </a:solidFill>
                <a:latin typeface="Arial Unicode MS"/>
                <a:ea typeface="Arial Unicode MS"/>
                <a:cs typeface="Arial Unicode MS"/>
              </a:rPr>
              <a:t>先完成一張成本表、一次訪談、一道產品、一次試賣。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2C44E-D72B-4024-BA08-D9A8AC3D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52800"/>
            <a:ext cx="5429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5F959-CB01-46CF-A1C9-02503605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619500"/>
            <a:ext cx="4667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rPr>
              <a:t>微型創業不是小夢想，</a:t>
            </a:r>
          </a:p>
          <a:p xmlns:a="http://schemas.openxmlformats.org/drawingml/2006/main">
            <a:pPr algn="ctr">
              <a:defRPr sz="180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E8866C"/>
                </a:solidFill>
                <a:latin typeface="Arial Unicode MS"/>
                <a:ea typeface="Arial Unicode MS"/>
                <a:cs typeface="Arial Unicode MS"/>
              </a:rPr>
              <a:t>是把大夢想放進可以執行的第一步。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8949B-9EFA-4518-8EF3-8BDE29C9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00625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23042"/>
                </a:solidFill>
                <a:latin typeface="Arial Unicode MS"/>
                <a:ea typeface="Arial Unicode MS"/>
                <a:cs typeface="Arial Unicode MS"/>
              </a:rPr>
              <a:t>主講者｜弘光科技大學助理教授 葉佳山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826A9-C3AA-454F-92D7-240A4E2B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2AA110-CEAF-481F-A065-34B016A0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198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B5A99A"/>
                </a:solidFill>
                <a:latin typeface="Arial Unicode MS"/>
                <a:ea typeface="Arial Unicode MS"/>
                <a:cs typeface="Arial Unicode MS"/>
              </a:rPr>
              <a:t>第八章｜講師結語</a:t>
            </a:r>
          </a:p>
        </p:txBody>
      </p:sp>
    </p:spTree>
    <p:extLst>
      <p:ext uri="{BB962C8B-B14F-4D97-AF65-F5344CB8AC3E}">
        <p14:creationId xmlns:p14="http://schemas.microsoft.com/office/powerpoint/2010/main" val="1860342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2026-06-03T03:07:20.1820000Z</dcterms:created>
  <dcterms:modified xsi:type="dcterms:W3CDTF">2026-06-03T03:07:20.1820000Z</dcterms:modified>
</coreProperties>
</file>